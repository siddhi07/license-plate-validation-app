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72" r:id="rId2"/>
    <p:sldId id="273" r:id="rId3"/>
    <p:sldId id="259" r:id="rId4"/>
    <p:sldId id="260" r:id="rId5"/>
    <p:sldId id="261" r:id="rId6"/>
    <p:sldId id="262" r:id="rId7"/>
    <p:sldId id="263" r:id="rId8"/>
    <p:sldId id="264" r:id="rId9"/>
    <p:sldId id="279" r:id="rId10"/>
    <p:sldId id="265" r:id="rId11"/>
    <p:sldId id="275" r:id="rId12"/>
    <p:sldId id="280" r:id="rId13"/>
    <p:sldId id="277" r:id="rId14"/>
    <p:sldId id="281" r:id="rId15"/>
    <p:sldId id="276" r:id="rId16"/>
    <p:sldId id="268" r:id="rId17"/>
    <p:sldId id="269" r:id="rId18"/>
    <p:sldId id="270"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C60E39-5054-494C-92C1-A584F9133533}" type="datetimeFigureOut">
              <a:rPr lang="en-US" smtClean="0"/>
              <a:pPr/>
              <a:t>5/27/2022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E4053E-089E-4E34-AB7B-587E7CE4CBC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258D2EE3-91AA-4DDF-8184-1AAF764D0D82}" type="datetime1">
              <a:rPr lang="en-US" smtClean="0"/>
              <a:t>5/27/2022</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78247110-C7E9-4834-AD5E-D51A6FA5AE89}" type="datetime1">
              <a:rPr lang="en-US" smtClean="0"/>
              <a:t>5/27/2022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B87B7DF-1397-4A73-9423-11C19EC5D781}" type="datetime1">
              <a:rPr lang="en-US" smtClean="0"/>
              <a:t>5/27/2022</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9434162-4294-4EAE-9E62-A266802DD0B0}" type="datetime1">
              <a:rPr lang="en-US" smtClean="0"/>
              <a:t>5/27/2022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F08A2A53-0AB1-4242-A2AB-FA5CA09AED0C}" type="datetime1">
              <a:rPr lang="en-US" smtClean="0"/>
              <a:t>5/27/2022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08AD768A-2F19-40C9-81B0-904A29E3F79E}" type="datetime1">
              <a:rPr lang="en-US" smtClean="0"/>
              <a:t>5/27/2022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EB8A5B-E10F-44B8-B500-BB61AD0BC44A}" type="datetime1">
              <a:rPr lang="en-US" smtClean="0"/>
              <a:t>5/27/2022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032CC58C-6BD4-4C60-A6E4-1E35996B88F9}" type="datetime1">
              <a:rPr lang="en-US" smtClean="0"/>
              <a:t>5/27/2022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FC7B100-DB8E-458B-B696-D68293C72328}" type="datetime1">
              <a:rPr lang="en-US" smtClean="0"/>
              <a:t>5/27/2022</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53C8F79-26DA-4B8D-BCF3-983DB1D2B409}" type="datetime1">
              <a:rPr lang="en-US" smtClean="0"/>
              <a:t>5/27/2022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F3908EF-FFD0-4C8D-9A18-5FAAF153655E}" type="datetime1">
              <a:rPr lang="en-US" smtClean="0"/>
              <a:t>5/27/2022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DE5B5872-AA8C-4AFB-AA00-75FADE4515B1}" type="datetime1">
              <a:rPr lang="en-US" smtClean="0"/>
              <a:t>5/27/2022</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B2E439-FF2B-4903-9654-3263B1815761}"/>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4" name="Content Placeholder 3">
            <a:extLst>
              <a:ext uri="{FF2B5EF4-FFF2-40B4-BE49-F238E27FC236}">
                <a16:creationId xmlns:a16="http://schemas.microsoft.com/office/drawing/2014/main" id="{7A6BCA41-D60D-4159-B0C2-3C1137E6ED8B}"/>
              </a:ext>
            </a:extLst>
          </p:cNvPr>
          <p:cNvSpPr>
            <a:spLocks noGrp="1"/>
          </p:cNvSpPr>
          <p:nvPr>
            <p:ph sz="quarter" idx="1"/>
          </p:nvPr>
        </p:nvSpPr>
        <p:spPr>
          <a:xfrm>
            <a:off x="609600" y="-76200"/>
            <a:ext cx="8159496" cy="6477000"/>
          </a:xfrm>
        </p:spPr>
        <p:txBody>
          <a:bodyPr>
            <a:normAutofit/>
          </a:bodyPr>
          <a:lstStyle/>
          <a:p>
            <a:pPr marL="0" indent="0">
              <a:buNone/>
            </a:pPr>
            <a:endParaRPr lang="en-US" sz="1600" dirty="0">
              <a:latin typeface="Calibri" panose="020F0502020204030204" pitchFamily="34" charset="0"/>
            </a:endParaRPr>
          </a:p>
          <a:p>
            <a:pPr marL="0" indent="0" algn="ctr">
              <a:buNone/>
            </a:pPr>
            <a:r>
              <a:rPr lang="en-US" sz="2000" dirty="0">
                <a:latin typeface="Calibri" panose="020F0502020204030204" pitchFamily="34" charset="0"/>
              </a:rPr>
              <a:t>           </a:t>
            </a:r>
          </a:p>
          <a:p>
            <a:pPr marL="0" indent="0" algn="ctr">
              <a:buNone/>
            </a:pPr>
            <a:r>
              <a:rPr lang="en-US" sz="2000" dirty="0">
                <a:latin typeface="Times New Roman" panose="02020603050405020304" pitchFamily="18" charset="0"/>
                <a:cs typeface="Times New Roman" panose="02020603050405020304" pitchFamily="18" charset="0"/>
              </a:rPr>
              <a:t>BE Project</a:t>
            </a:r>
          </a:p>
          <a:p>
            <a:pPr marL="0" indent="0" algn="ctr">
              <a:buNone/>
            </a:pPr>
            <a:r>
              <a:rPr lang="en-US" sz="2000" dirty="0">
                <a:latin typeface="Times New Roman" panose="02020603050405020304" pitchFamily="18" charset="0"/>
                <a:cs typeface="Times New Roman" panose="02020603050405020304" pitchFamily="18" charset="0"/>
              </a:rPr>
              <a:t> on</a:t>
            </a:r>
          </a:p>
          <a:p>
            <a:pPr marL="0" indent="0" algn="ctr">
              <a:buNone/>
            </a:pPr>
            <a:r>
              <a:rPr lang="en-US" sz="2400" dirty="0">
                <a:solidFill>
                  <a:srgbClr val="FF0000"/>
                </a:solidFill>
                <a:latin typeface="Times New Roman" panose="02020603050405020304" pitchFamily="18" charset="0"/>
                <a:cs typeface="Times New Roman" panose="02020603050405020304" pitchFamily="18" charset="0"/>
              </a:rPr>
              <a:t>“Virtual Valet”</a:t>
            </a:r>
          </a:p>
          <a:p>
            <a:pPr marL="0" indent="0" algn="ctr">
              <a:buNone/>
            </a:pPr>
            <a:r>
              <a:rPr lang="en-US" sz="1600" dirty="0">
                <a:latin typeface="Times New Roman" panose="02020603050405020304" pitchFamily="18" charset="0"/>
                <a:cs typeface="Times New Roman" panose="02020603050405020304" pitchFamily="18" charset="0"/>
              </a:rPr>
              <a:t>Presented By,</a:t>
            </a:r>
          </a:p>
          <a:p>
            <a:pPr marL="514350" indent="-514350" algn="ctr">
              <a:buAutoNum type="arabicPeriod"/>
            </a:pPr>
            <a:r>
              <a:rPr lang="en-US" sz="1600" dirty="0">
                <a:latin typeface="Times New Roman" panose="02020603050405020304" pitchFamily="18" charset="0"/>
                <a:cs typeface="Times New Roman" panose="02020603050405020304" pitchFamily="18" charset="0"/>
              </a:rPr>
              <a:t>Siddhi </a:t>
            </a:r>
            <a:r>
              <a:rPr lang="en-US" sz="1600" dirty="0" err="1">
                <a:latin typeface="Times New Roman" panose="02020603050405020304" pitchFamily="18" charset="0"/>
                <a:cs typeface="Times New Roman" panose="02020603050405020304" pitchFamily="18" charset="0"/>
              </a:rPr>
              <a:t>Nirmale</a:t>
            </a:r>
            <a:r>
              <a:rPr lang="en-US" sz="1600" dirty="0">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71900442L</a:t>
            </a:r>
            <a:endParaRPr lang="en-US" sz="1600" dirty="0">
              <a:latin typeface="Times New Roman" panose="02020603050405020304" pitchFamily="18" charset="0"/>
              <a:cs typeface="Times New Roman" panose="02020603050405020304" pitchFamily="18" charset="0"/>
            </a:endParaRPr>
          </a:p>
          <a:p>
            <a:pPr marL="514350" indent="-514350" algn="ctr">
              <a:buFont typeface="Wingdings 2"/>
              <a:buAutoNum type="arabicPeriod"/>
            </a:pPr>
            <a:r>
              <a:rPr lang="en-US" sz="1600" dirty="0">
                <a:latin typeface="Times New Roman" panose="02020603050405020304" pitchFamily="18" charset="0"/>
                <a:cs typeface="Times New Roman" panose="02020603050405020304" pitchFamily="18" charset="0"/>
              </a:rPr>
              <a:t>Jait </a:t>
            </a:r>
            <a:r>
              <a:rPr lang="en-US" sz="1600" dirty="0" err="1">
                <a:latin typeface="Times New Roman" panose="02020603050405020304" pitchFamily="18" charset="0"/>
                <a:cs typeface="Times New Roman" panose="02020603050405020304" pitchFamily="18" charset="0"/>
              </a:rPr>
              <a:t>Mahavarkar</a:t>
            </a:r>
            <a:r>
              <a:rPr lang="en-US" sz="1600" dirty="0">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71900287H</a:t>
            </a:r>
          </a:p>
          <a:p>
            <a:pPr marL="514350" indent="-514350" algn="ctr">
              <a:buFont typeface="Wingdings 2"/>
              <a:buAutoNum type="arabicPeriod"/>
            </a:pPr>
            <a:r>
              <a:rPr lang="en-US" sz="1600" dirty="0">
                <a:latin typeface="Times New Roman" panose="02020603050405020304" pitchFamily="18" charset="0"/>
                <a:cs typeface="Times New Roman" panose="02020603050405020304" pitchFamily="18" charset="0"/>
              </a:rPr>
              <a:t>Pratiksha Kolte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71900343B</a:t>
            </a:r>
          </a:p>
          <a:p>
            <a:pPr marL="0" indent="0" algn="ctr">
              <a:buNone/>
            </a:pPr>
            <a:r>
              <a:rPr lang="en-US" sz="1800" dirty="0">
                <a:latin typeface="Times New Roman" panose="02020603050405020304" pitchFamily="18" charset="0"/>
                <a:cs typeface="Times New Roman" panose="02020603050405020304" pitchFamily="18" charset="0"/>
              </a:rPr>
              <a:t>Guide By,</a:t>
            </a:r>
          </a:p>
          <a:p>
            <a:pPr marL="0" indent="0" algn="ctr">
              <a:buNone/>
            </a:pPr>
            <a:r>
              <a:rPr lang="en-US" sz="1800" dirty="0">
                <a:solidFill>
                  <a:srgbClr val="FF0000"/>
                </a:solidFill>
                <a:latin typeface="Times New Roman" panose="02020603050405020304" pitchFamily="18" charset="0"/>
                <a:cs typeface="Times New Roman" panose="02020603050405020304" pitchFamily="18" charset="0"/>
              </a:rPr>
              <a:t>Prof. </a:t>
            </a:r>
            <a:r>
              <a:rPr lang="en-US" sz="1800" dirty="0" err="1">
                <a:solidFill>
                  <a:srgbClr val="FF0000"/>
                </a:solidFill>
                <a:latin typeface="Times New Roman" panose="02020603050405020304" pitchFamily="18" charset="0"/>
                <a:cs typeface="Times New Roman" panose="02020603050405020304" pitchFamily="18" charset="0"/>
              </a:rPr>
              <a:t>A.A.Prabhune</a:t>
            </a:r>
            <a:endParaRPr lang="en-US" sz="1600" dirty="0">
              <a:solidFill>
                <a:srgbClr val="FF0000"/>
              </a:solidFill>
              <a:latin typeface="Times New Roman" panose="02020603050405020304" pitchFamily="18" charset="0"/>
              <a:cs typeface="Times New Roman" panose="02020603050405020304" pitchFamily="18" charset="0"/>
            </a:endParaRPr>
          </a:p>
          <a:p>
            <a:pPr marL="0" marR="0" indent="0" algn="ctr">
              <a:spcBef>
                <a:spcPts val="0"/>
              </a:spcBef>
              <a:spcAft>
                <a:spcPts val="0"/>
              </a:spcAft>
              <a:buNone/>
            </a:pPr>
            <a:endParaRPr lang="en-US" sz="1600" b="1" cap="all"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endParaRPr>
          </a:p>
          <a:p>
            <a:pPr marL="0" marR="0" indent="0" algn="ctr">
              <a:spcBef>
                <a:spcPts val="0"/>
              </a:spcBef>
              <a:spcAft>
                <a:spcPts val="0"/>
              </a:spcAft>
              <a:buNone/>
            </a:pPr>
            <a:endParaRPr lang="en-US" sz="1600" b="1" cap="all" dirty="0">
              <a:solidFill>
                <a:srgbClr val="000000"/>
              </a:solidFill>
              <a:uFill>
                <a:solidFill>
                  <a:srgbClr val="000000"/>
                </a:solidFill>
              </a:uFill>
              <a:latin typeface="Times New Roman" panose="02020603050405020304" pitchFamily="18" charset="0"/>
              <a:ea typeface="Arial Unicode MS"/>
              <a:cs typeface="Times New Roman" panose="02020603050405020304" pitchFamily="18" charset="0"/>
            </a:endParaRPr>
          </a:p>
          <a:p>
            <a:pPr marL="0" marR="0" indent="0" algn="ctr">
              <a:spcBef>
                <a:spcPts val="0"/>
              </a:spcBef>
              <a:spcAft>
                <a:spcPts val="0"/>
              </a:spcAft>
              <a:buNone/>
            </a:pPr>
            <a:endParaRPr lang="en-US" sz="1600" b="1" cap="all"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endParaRPr>
          </a:p>
          <a:p>
            <a:pPr marL="0" marR="0" indent="0" algn="ctr">
              <a:spcBef>
                <a:spcPts val="0"/>
              </a:spcBef>
              <a:spcAft>
                <a:spcPts val="0"/>
              </a:spcAft>
              <a:buNone/>
            </a:pPr>
            <a:endParaRPr lang="en-US" sz="1600" b="1" cap="all"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endParaRPr>
          </a:p>
          <a:p>
            <a:pPr marL="0" marR="0" indent="0" algn="ctr">
              <a:spcBef>
                <a:spcPts val="0"/>
              </a:spcBef>
              <a:spcAft>
                <a:spcPts val="0"/>
              </a:spcAft>
              <a:buNone/>
            </a:pPr>
            <a:endParaRPr lang="en-US" sz="1600" b="1" cap="all"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endParaRPr>
          </a:p>
          <a:p>
            <a:pPr marL="0" marR="0" indent="0" algn="ctr">
              <a:spcBef>
                <a:spcPts val="0"/>
              </a:spcBef>
              <a:spcAft>
                <a:spcPts val="0"/>
              </a:spcAft>
              <a:buNone/>
            </a:pPr>
            <a:r>
              <a:rPr lang="en-US" sz="1600" b="1" cap="all"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rPr>
              <a:t>Department Of </a:t>
            </a:r>
            <a:endParaRPr lang="en-US" sz="1600"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endParaRPr>
          </a:p>
          <a:p>
            <a:pPr marL="0" marR="0" indent="0" algn="ctr">
              <a:spcBef>
                <a:spcPts val="0"/>
              </a:spcBef>
              <a:spcAft>
                <a:spcPts val="0"/>
              </a:spcAft>
              <a:buNone/>
            </a:pPr>
            <a:r>
              <a:rPr lang="en-US" sz="1600" b="1" cap="all"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rPr>
              <a:t>Electronics and Telecommunication ENGINEERING </a:t>
            </a:r>
            <a:endParaRPr lang="en-US" sz="1600"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endParaRPr>
          </a:p>
          <a:p>
            <a:pPr marL="0" marR="0" indent="0" algn="ctr">
              <a:spcBef>
                <a:spcPts val="0"/>
              </a:spcBef>
              <a:spcAft>
                <a:spcPts val="0"/>
              </a:spcAft>
              <a:buNone/>
            </a:pPr>
            <a:r>
              <a:rPr lang="en-US" sz="1600" b="1" cap="all"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rPr>
              <a:t>PUNE INSTITUTE OF COMPUTER TECHNOLOGY</a:t>
            </a:r>
            <a:endParaRPr lang="en-US" sz="1600"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endParaRPr>
          </a:p>
          <a:p>
            <a:pPr marL="0" marR="0" indent="0" algn="ctr">
              <a:spcBef>
                <a:spcPts val="0"/>
              </a:spcBef>
              <a:spcAft>
                <a:spcPts val="0"/>
              </a:spcAft>
              <a:buNone/>
            </a:pPr>
            <a:r>
              <a:rPr lang="de-DE" sz="1600" b="1" cap="all"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rPr>
              <a:t>PUNE </a:t>
            </a:r>
            <a:r>
              <a:rPr lang="en-US" sz="1600" b="1" cap="all"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rPr>
              <a:t>– 43</a:t>
            </a:r>
            <a:r>
              <a:rPr lang="en-US" sz="1600" b="1" cap="all"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endParaRPr>
          </a:p>
          <a:p>
            <a:pPr marL="0" marR="0" indent="0" algn="ctr">
              <a:spcBef>
                <a:spcPts val="0"/>
              </a:spcBef>
              <a:spcAft>
                <a:spcPts val="0"/>
              </a:spcAft>
              <a:buNone/>
            </a:pPr>
            <a:r>
              <a:rPr lang="en-US" sz="1600" b="1" cap="all"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rPr>
              <a:t>Academic Year: 2021-22</a:t>
            </a:r>
            <a:endParaRPr lang="en-US" sz="1600" dirty="0">
              <a:solidFill>
                <a:srgbClr val="000000"/>
              </a:solidFill>
              <a:effectLst/>
              <a:uFill>
                <a:solidFill>
                  <a:srgbClr val="000000"/>
                </a:solidFill>
              </a:uFill>
              <a:latin typeface="Times New Roman" panose="02020603050405020304" pitchFamily="18" charset="0"/>
              <a:ea typeface="Arial Unicode MS"/>
              <a:cs typeface="Times New Roman" panose="02020603050405020304" pitchFamily="18" charset="0"/>
            </a:endParaRPr>
          </a:p>
          <a:p>
            <a:pPr marL="514350" indent="-514350" algn="ctr">
              <a:buAutoNum type="arabicPeriod"/>
            </a:pPr>
            <a:endParaRPr lang="en-US" sz="1600" dirty="0">
              <a:latin typeface="Calibri" panose="020F0502020204030204" pitchFamily="34" charset="0"/>
            </a:endParaRPr>
          </a:p>
          <a:p>
            <a:pPr marL="0" indent="0" algn="ctr">
              <a:buNone/>
            </a:pPr>
            <a:endParaRPr lang="en-US" sz="1600" dirty="0">
              <a:solidFill>
                <a:srgbClr val="FF0000"/>
              </a:solidFill>
              <a:latin typeface="Calibri" panose="020F0502020204030204" pitchFamily="34" charset="0"/>
            </a:endParaRPr>
          </a:p>
          <a:p>
            <a:pPr marL="0" indent="0" algn="ctr">
              <a:buNone/>
            </a:pPr>
            <a:endParaRPr lang="en-US" sz="1600" dirty="0">
              <a:latin typeface="Calibri" panose="020F0502020204030204" pitchFamily="34" charset="0"/>
            </a:endParaRPr>
          </a:p>
        </p:txBody>
      </p:sp>
      <p:pic>
        <p:nvPicPr>
          <p:cNvPr id="1026" name="Picture 2" descr="upload.wikimedia.org/wikipedia/commons/f/f7/Pic...">
            <a:extLst>
              <a:ext uri="{FF2B5EF4-FFF2-40B4-BE49-F238E27FC236}">
                <a16:creationId xmlns:a16="http://schemas.microsoft.com/office/drawing/2014/main" id="{524CB211-E012-4C22-A1AF-366770DD8C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810000"/>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358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A802D-69E5-4A89-B09A-C128E1510625}"/>
              </a:ext>
            </a:extLst>
          </p:cNvPr>
          <p:cNvSpPr>
            <a:spLocks noGrp="1"/>
          </p:cNvSpPr>
          <p:nvPr>
            <p:ph type="title"/>
          </p:nvPr>
        </p:nvSpPr>
        <p:spPr/>
        <p:txBody>
          <a:bodyPr/>
          <a:lstStyle/>
          <a:p>
            <a:r>
              <a:rPr lang="en-US" dirty="0"/>
              <a:t>Individual Contribution</a:t>
            </a:r>
          </a:p>
        </p:txBody>
      </p:sp>
      <p:sp>
        <p:nvSpPr>
          <p:cNvPr id="3" name="Slide Number Placeholder 2">
            <a:extLst>
              <a:ext uri="{FF2B5EF4-FFF2-40B4-BE49-F238E27FC236}">
                <a16:creationId xmlns:a16="http://schemas.microsoft.com/office/drawing/2014/main" id="{7EBC821F-720D-45DC-9D45-F453F2D8BF23}"/>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4" name="Content Placeholder 3">
            <a:extLst>
              <a:ext uri="{FF2B5EF4-FFF2-40B4-BE49-F238E27FC236}">
                <a16:creationId xmlns:a16="http://schemas.microsoft.com/office/drawing/2014/main" id="{30CCF3BA-E9A2-473D-8A1E-FE46C62FC51D}"/>
              </a:ext>
            </a:extLst>
          </p:cNvPr>
          <p:cNvSpPr>
            <a:spLocks noGrp="1"/>
          </p:cNvSpPr>
          <p:nvPr>
            <p:ph sz="quarter" idx="1"/>
          </p:nvPr>
        </p:nvSpPr>
        <p:spPr/>
        <p:txBody>
          <a:bodyPr/>
          <a:lstStyle/>
          <a:p>
            <a:pPr marL="0" indent="0">
              <a:buNone/>
            </a:pPr>
            <a:endParaRPr lang="en-US" dirty="0"/>
          </a:p>
          <a:p>
            <a:endParaRPr lang="en-US" dirty="0"/>
          </a:p>
          <a:p>
            <a:endParaRPr lang="en-US" dirty="0"/>
          </a:p>
        </p:txBody>
      </p:sp>
      <p:graphicFrame>
        <p:nvGraphicFramePr>
          <p:cNvPr id="5" name="Table 5">
            <a:extLst>
              <a:ext uri="{FF2B5EF4-FFF2-40B4-BE49-F238E27FC236}">
                <a16:creationId xmlns:a16="http://schemas.microsoft.com/office/drawing/2014/main" id="{461CA1E4-BBED-4430-8C18-1CAB96C3B8B0}"/>
              </a:ext>
            </a:extLst>
          </p:cNvPr>
          <p:cNvGraphicFramePr>
            <a:graphicFrameLocks noGrp="1"/>
          </p:cNvGraphicFramePr>
          <p:nvPr>
            <p:extLst>
              <p:ext uri="{D42A27DB-BD31-4B8C-83A1-F6EECF244321}">
                <p14:modId xmlns:p14="http://schemas.microsoft.com/office/powerpoint/2010/main" val="3509285293"/>
              </p:ext>
            </p:extLst>
          </p:nvPr>
        </p:nvGraphicFramePr>
        <p:xfrm>
          <a:off x="914400" y="2730612"/>
          <a:ext cx="7772400" cy="2542851"/>
        </p:xfrm>
        <a:graphic>
          <a:graphicData uri="http://schemas.openxmlformats.org/drawingml/2006/table">
            <a:tbl>
              <a:tblPr firstRow="1" bandRow="1">
                <a:tableStyleId>{5940675A-B579-460E-94D1-54222C63F5DA}</a:tableStyleId>
              </a:tblPr>
              <a:tblGrid>
                <a:gridCol w="914400">
                  <a:extLst>
                    <a:ext uri="{9D8B030D-6E8A-4147-A177-3AD203B41FA5}">
                      <a16:colId xmlns:a16="http://schemas.microsoft.com/office/drawing/2014/main" val="1590200998"/>
                    </a:ext>
                  </a:extLst>
                </a:gridCol>
                <a:gridCol w="2514600">
                  <a:extLst>
                    <a:ext uri="{9D8B030D-6E8A-4147-A177-3AD203B41FA5}">
                      <a16:colId xmlns:a16="http://schemas.microsoft.com/office/drawing/2014/main" val="32852033"/>
                    </a:ext>
                  </a:extLst>
                </a:gridCol>
                <a:gridCol w="1447800">
                  <a:extLst>
                    <a:ext uri="{9D8B030D-6E8A-4147-A177-3AD203B41FA5}">
                      <a16:colId xmlns:a16="http://schemas.microsoft.com/office/drawing/2014/main" val="2838959310"/>
                    </a:ext>
                  </a:extLst>
                </a:gridCol>
                <a:gridCol w="2895600">
                  <a:extLst>
                    <a:ext uri="{9D8B030D-6E8A-4147-A177-3AD203B41FA5}">
                      <a16:colId xmlns:a16="http://schemas.microsoft.com/office/drawing/2014/main" val="91146585"/>
                    </a:ext>
                  </a:extLst>
                </a:gridCol>
              </a:tblGrid>
              <a:tr h="622188">
                <a:tc>
                  <a:txBody>
                    <a:bodyPr/>
                    <a:lstStyle/>
                    <a:p>
                      <a:pPr algn="ctr"/>
                      <a:r>
                        <a:rPr lang="en-US" dirty="0"/>
                        <a:t>Sr. No.</a:t>
                      </a:r>
                    </a:p>
                  </a:txBody>
                  <a:tcPr/>
                </a:tc>
                <a:tc>
                  <a:txBody>
                    <a:bodyPr/>
                    <a:lstStyle/>
                    <a:p>
                      <a:pPr algn="ctr"/>
                      <a:r>
                        <a:rPr lang="en-US" dirty="0"/>
                        <a:t>Student Name</a:t>
                      </a:r>
                    </a:p>
                  </a:txBody>
                  <a:tcPr/>
                </a:tc>
                <a:tc>
                  <a:txBody>
                    <a:bodyPr/>
                    <a:lstStyle/>
                    <a:p>
                      <a:pPr algn="ctr"/>
                      <a:r>
                        <a:rPr lang="en-US" dirty="0"/>
                        <a:t>Roll No.</a:t>
                      </a:r>
                    </a:p>
                  </a:txBody>
                  <a:tcPr/>
                </a:tc>
                <a:tc>
                  <a:txBody>
                    <a:bodyPr/>
                    <a:lstStyle/>
                    <a:p>
                      <a:pPr algn="ctr"/>
                      <a:r>
                        <a:rPr lang="en-US" dirty="0"/>
                        <a:t>Contribution</a:t>
                      </a:r>
                    </a:p>
                  </a:txBody>
                  <a:tcPr/>
                </a:tc>
                <a:extLst>
                  <a:ext uri="{0D108BD9-81ED-4DB2-BD59-A6C34878D82A}">
                    <a16:rowId xmlns:a16="http://schemas.microsoft.com/office/drawing/2014/main" val="2690833887"/>
                  </a:ext>
                </a:extLst>
              </a:tr>
              <a:tr h="688093">
                <a:tc>
                  <a:txBody>
                    <a:bodyPr/>
                    <a:lstStyle/>
                    <a:p>
                      <a:r>
                        <a:rPr lang="en-US" dirty="0"/>
                        <a:t>1</a:t>
                      </a:r>
                    </a:p>
                  </a:txBody>
                  <a:tcPr/>
                </a:tc>
                <a:tc>
                  <a:txBody>
                    <a:bodyPr/>
                    <a:lstStyle/>
                    <a:p>
                      <a:r>
                        <a:rPr lang="en-US" dirty="0"/>
                        <a:t>Siddhi </a:t>
                      </a:r>
                      <a:r>
                        <a:rPr lang="en-US" dirty="0" err="1"/>
                        <a:t>Nirmale</a:t>
                      </a:r>
                      <a:endParaRPr lang="en-US" dirty="0"/>
                    </a:p>
                  </a:txBody>
                  <a:tcPr/>
                </a:tc>
                <a:tc>
                  <a:txBody>
                    <a:bodyPr/>
                    <a:lstStyle/>
                    <a:p>
                      <a:r>
                        <a:rPr lang="en-US" dirty="0"/>
                        <a:t>42143</a:t>
                      </a:r>
                    </a:p>
                  </a:txBody>
                  <a:tcPr/>
                </a:tc>
                <a:tc>
                  <a:txBody>
                    <a:bodyPr/>
                    <a:lstStyle/>
                    <a:p>
                      <a:r>
                        <a:rPr lang="en-US" dirty="0"/>
                        <a:t>Frontend &amp; Integration</a:t>
                      </a:r>
                    </a:p>
                  </a:txBody>
                  <a:tcPr/>
                </a:tc>
                <a:extLst>
                  <a:ext uri="{0D108BD9-81ED-4DB2-BD59-A6C34878D82A}">
                    <a16:rowId xmlns:a16="http://schemas.microsoft.com/office/drawing/2014/main" val="3738669427"/>
                  </a:ext>
                </a:extLst>
              </a:tr>
              <a:tr h="616285">
                <a:tc>
                  <a:txBody>
                    <a:bodyPr/>
                    <a:lstStyle/>
                    <a:p>
                      <a:r>
                        <a:rPr lang="en-US" dirty="0"/>
                        <a:t>2</a:t>
                      </a:r>
                    </a:p>
                  </a:txBody>
                  <a:tcPr/>
                </a:tc>
                <a:tc>
                  <a:txBody>
                    <a:bodyPr/>
                    <a:lstStyle/>
                    <a:p>
                      <a:r>
                        <a:rPr lang="en-US" dirty="0"/>
                        <a:t>Jait Mahavarkar</a:t>
                      </a:r>
                    </a:p>
                  </a:txBody>
                  <a:tcPr/>
                </a:tc>
                <a:tc>
                  <a:txBody>
                    <a:bodyPr/>
                    <a:lstStyle/>
                    <a:p>
                      <a:r>
                        <a:rPr lang="en-US" dirty="0"/>
                        <a:t>42131</a:t>
                      </a:r>
                    </a:p>
                  </a:txBody>
                  <a:tcPr/>
                </a:tc>
                <a:tc>
                  <a:txBody>
                    <a:bodyPr/>
                    <a:lstStyle/>
                    <a:p>
                      <a:r>
                        <a:rPr lang="en-US" dirty="0"/>
                        <a:t>Backend</a:t>
                      </a:r>
                    </a:p>
                  </a:txBody>
                  <a:tcPr/>
                </a:tc>
                <a:extLst>
                  <a:ext uri="{0D108BD9-81ED-4DB2-BD59-A6C34878D82A}">
                    <a16:rowId xmlns:a16="http://schemas.microsoft.com/office/drawing/2014/main" val="1865679689"/>
                  </a:ext>
                </a:extLst>
              </a:tr>
              <a:tr h="616285">
                <a:tc>
                  <a:txBody>
                    <a:bodyPr/>
                    <a:lstStyle/>
                    <a:p>
                      <a:r>
                        <a:rPr lang="en-US" dirty="0"/>
                        <a:t>3</a:t>
                      </a:r>
                    </a:p>
                  </a:txBody>
                  <a:tcPr/>
                </a:tc>
                <a:tc>
                  <a:txBody>
                    <a:bodyPr/>
                    <a:lstStyle/>
                    <a:p>
                      <a:r>
                        <a:rPr lang="en-US" dirty="0" err="1"/>
                        <a:t>Pratiksha</a:t>
                      </a:r>
                      <a:r>
                        <a:rPr lang="en-US" dirty="0"/>
                        <a:t> Kolte</a:t>
                      </a:r>
                    </a:p>
                  </a:txBody>
                  <a:tcPr/>
                </a:tc>
                <a:tc>
                  <a:txBody>
                    <a:bodyPr/>
                    <a:lstStyle/>
                    <a:p>
                      <a:r>
                        <a:rPr lang="en-US" dirty="0"/>
                        <a:t>42435</a:t>
                      </a:r>
                    </a:p>
                  </a:txBody>
                  <a:tcPr/>
                </a:tc>
                <a:tc>
                  <a:txBody>
                    <a:bodyPr/>
                    <a:lstStyle/>
                    <a:p>
                      <a:r>
                        <a:rPr lang="en-US" dirty="0"/>
                        <a:t>Frontend</a:t>
                      </a:r>
                    </a:p>
                  </a:txBody>
                  <a:tcPr/>
                </a:tc>
                <a:extLst>
                  <a:ext uri="{0D108BD9-81ED-4DB2-BD59-A6C34878D82A}">
                    <a16:rowId xmlns:a16="http://schemas.microsoft.com/office/drawing/2014/main" val="1159368960"/>
                  </a:ext>
                </a:extLst>
              </a:tr>
            </a:tbl>
          </a:graphicData>
        </a:graphic>
      </p:graphicFrame>
    </p:spTree>
    <p:extLst>
      <p:ext uri="{BB962C8B-B14F-4D97-AF65-F5344CB8AC3E}">
        <p14:creationId xmlns:p14="http://schemas.microsoft.com/office/powerpoint/2010/main" val="3583771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5F45D-2D1F-4AE6-A6A6-5BFEA6D44432}"/>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Aim of the Project</a:t>
            </a:r>
          </a:p>
        </p:txBody>
      </p:sp>
      <p:sp>
        <p:nvSpPr>
          <p:cNvPr id="3" name="Content Placeholder 2">
            <a:extLst>
              <a:ext uri="{FF2B5EF4-FFF2-40B4-BE49-F238E27FC236}">
                <a16:creationId xmlns:a16="http://schemas.microsoft.com/office/drawing/2014/main" id="{2B480200-B0F6-43B7-A73A-B65F9C74B766}"/>
              </a:ext>
            </a:extLst>
          </p:cNvPr>
          <p:cNvSpPr>
            <a:spLocks noGrp="1"/>
          </p:cNvSpPr>
          <p:nvPr>
            <p:ph idx="1"/>
          </p:nvPr>
        </p:nvSpPr>
        <p:spPr/>
        <p:txBody>
          <a:bodyPr>
            <a:normAutofit/>
          </a:bodyPr>
          <a:lstStyle/>
          <a:p>
            <a:pPr marL="0" indent="0">
              <a:lnSpc>
                <a:spcPct val="150000"/>
              </a:lnSpc>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 main purpose of this project is to create an app that leverages Python's Easy OCR and Tesseract to allow users' devices to automatically record license plates of cars, allowing them to learn more about the vehicle. The backend and frontend will be connected using Django.</a:t>
            </a:r>
            <a:endParaRPr lang="en-US" sz="2000" dirty="0"/>
          </a:p>
        </p:txBody>
      </p:sp>
      <p:sp>
        <p:nvSpPr>
          <p:cNvPr id="4" name="Slide Number Placeholder 3">
            <a:extLst>
              <a:ext uri="{FF2B5EF4-FFF2-40B4-BE49-F238E27FC236}">
                <a16:creationId xmlns:a16="http://schemas.microsoft.com/office/drawing/2014/main" id="{28AA2BF8-4F13-4CA1-8336-8D7C3EEABF56}"/>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629532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5C869-FCE9-45D0-BBB3-BDB6A4705D5D}"/>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Scope and Objective/s of the Project</a:t>
            </a:r>
          </a:p>
        </p:txBody>
      </p:sp>
      <p:sp>
        <p:nvSpPr>
          <p:cNvPr id="3" name="Content Placeholder 2">
            <a:extLst>
              <a:ext uri="{FF2B5EF4-FFF2-40B4-BE49-F238E27FC236}">
                <a16:creationId xmlns:a16="http://schemas.microsoft.com/office/drawing/2014/main" id="{47928B43-2038-4ED9-9420-08B51436E187}"/>
              </a:ext>
            </a:extLst>
          </p:cNvPr>
          <p:cNvSpPr>
            <a:spLocks noGrp="1"/>
          </p:cNvSpPr>
          <p:nvPr>
            <p:ph idx="1"/>
          </p:nvPr>
        </p:nvSpPr>
        <p:spPr>
          <a:xfrm>
            <a:off x="685800" y="1447800"/>
            <a:ext cx="8001000" cy="4648200"/>
          </a:xfrm>
        </p:spPr>
        <p:txBody>
          <a:bodyPr>
            <a:no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In last few years, ANPR or license plate recognition (LPR) has been one of the useful approaches for vehicle surveillance. It is can be applied at number of public places for fulfilling some of the purposes like traffic safety enforcement, automatic toll text collection, car park system and Automatic vehicle parking system. </a:t>
            </a:r>
          </a:p>
          <a:p>
            <a:pPr marL="0" indent="0">
              <a:lnSpc>
                <a:spcPct val="150000"/>
              </a:lnSpc>
              <a:buNone/>
            </a:pPr>
            <a:r>
              <a:rPr lang="en-US" sz="1800" dirty="0">
                <a:latin typeface="Times New Roman" panose="02020603050405020304" pitchFamily="18" charset="0"/>
                <a:cs typeface="Times New Roman" panose="02020603050405020304" pitchFamily="18" charset="0"/>
              </a:rPr>
              <a:t>Although it appears to be a simple task, capturing an image of a moving car in real time in such a way that none of the vehicle's components, particularly the vehicle number plate, is missed, is a difficult task. We assessed and categorized based on the methodology in each approach because it is impossible to judge which strategy is best. When available, parameters such as speed, accuracy, performance, image size, and platform are presented for each approach. Our survey continues with a review of what is not implemented and what types of research in ANPR are conceivable.</a:t>
            </a:r>
          </a:p>
          <a:p>
            <a:pPr marL="0" indent="0">
              <a:buNone/>
            </a:pPr>
            <a:endParaRPr lang="en-US" sz="2000" dirty="0"/>
          </a:p>
        </p:txBody>
      </p:sp>
      <p:sp>
        <p:nvSpPr>
          <p:cNvPr id="4" name="Slide Number Placeholder 3">
            <a:extLst>
              <a:ext uri="{FF2B5EF4-FFF2-40B4-BE49-F238E27FC236}">
                <a16:creationId xmlns:a16="http://schemas.microsoft.com/office/drawing/2014/main" id="{74CE49D0-4388-42E3-998B-93E3C8DCA0EB}"/>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127570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FB17F-E75C-4BA3-8983-785C72257FCF}"/>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70567024-3AAE-44CF-98EF-CA79CFF25169}"/>
              </a:ext>
            </a:extLst>
          </p:cNvPr>
          <p:cNvSpPr>
            <a:spLocks noGrp="1"/>
          </p:cNvSpPr>
          <p:nvPr>
            <p:ph idx="1"/>
          </p:nvPr>
        </p:nvSpPr>
        <p:spPr/>
        <p:txBody>
          <a:bodyPr>
            <a:normAutofit fontScale="92500" lnSpcReduction="10000"/>
          </a:bodyPr>
          <a:lstStyle/>
          <a:p>
            <a:pPr>
              <a:lnSpc>
                <a:spcPct val="150000"/>
              </a:lnSpc>
            </a:pPr>
            <a:r>
              <a:rPr lang="en-IN" sz="2400" dirty="0">
                <a:latin typeface="Times New Roman" panose="02020603050405020304" pitchFamily="18" charset="0"/>
                <a:cs typeface="Times New Roman" panose="02020603050405020304" pitchFamily="18" charset="0"/>
              </a:rPr>
              <a:t>A vehicle registration plate is a metal or plastic plate attached to a motor vehicle for official identification purpose. These plates are placed on the front and back of the vehicle .</a:t>
            </a:r>
          </a:p>
          <a:p>
            <a:pPr>
              <a:lnSpc>
                <a:spcPct val="150000"/>
              </a:lnSpc>
            </a:pPr>
            <a:r>
              <a:rPr lang="en-IN" sz="2400" dirty="0">
                <a:latin typeface="Times New Roman" panose="02020603050405020304" pitchFamily="18" charset="0"/>
                <a:cs typeface="Times New Roman" panose="02020603050405020304" pitchFamily="18" charset="0"/>
              </a:rPr>
              <a:t>Number  plate recognition is an image processing technology which is used to identify vehicles by their number plates using optical character recognition .</a:t>
            </a:r>
          </a:p>
          <a:p>
            <a:pPr>
              <a:lnSpc>
                <a:spcPct val="150000"/>
              </a:lnSpc>
            </a:pPr>
            <a:r>
              <a:rPr lang="en-IN" sz="2400" dirty="0">
                <a:latin typeface="Times New Roman" panose="02020603050405020304" pitchFamily="18" charset="0"/>
                <a:cs typeface="Times New Roman" panose="02020603050405020304" pitchFamily="18" charset="0"/>
              </a:rPr>
              <a:t>This technology is used in various security and traffic applications such as access control system , border control ,parking stations .</a:t>
            </a:r>
          </a:p>
          <a:p>
            <a:pPr marL="0" indent="0">
              <a:buNone/>
            </a:pPr>
            <a:endParaRPr lang="en-US" dirty="0"/>
          </a:p>
        </p:txBody>
      </p:sp>
      <p:sp>
        <p:nvSpPr>
          <p:cNvPr id="4" name="Slide Number Placeholder 3">
            <a:extLst>
              <a:ext uri="{FF2B5EF4-FFF2-40B4-BE49-F238E27FC236}">
                <a16:creationId xmlns:a16="http://schemas.microsoft.com/office/drawing/2014/main" id="{B0F3DCD0-407D-4BCB-B2CC-ACF1A8CA5D21}"/>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3583493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304FD-C540-449B-8278-9C4648C81B05}"/>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Block Diagram</a:t>
            </a:r>
          </a:p>
        </p:txBody>
      </p:sp>
      <p:sp>
        <p:nvSpPr>
          <p:cNvPr id="4" name="Slide Number Placeholder 3">
            <a:extLst>
              <a:ext uri="{FF2B5EF4-FFF2-40B4-BE49-F238E27FC236}">
                <a16:creationId xmlns:a16="http://schemas.microsoft.com/office/drawing/2014/main" id="{06FDD959-1284-4A9F-B7A6-E1CB343602DA}"/>
              </a:ext>
            </a:extLst>
          </p:cNvPr>
          <p:cNvSpPr>
            <a:spLocks noGrp="1"/>
          </p:cNvSpPr>
          <p:nvPr>
            <p:ph type="sldNum" sz="quarter" idx="12"/>
          </p:nvPr>
        </p:nvSpPr>
        <p:spPr/>
        <p:txBody>
          <a:bodyPr/>
          <a:lstStyle/>
          <a:p>
            <a:fld id="{B6F15528-21DE-4FAA-801E-634DDDAF4B2B}" type="slidenum">
              <a:rPr lang="en-US" smtClean="0"/>
              <a:pPr/>
              <a:t>6</a:t>
            </a:fld>
            <a:endParaRPr lang="en-US"/>
          </a:p>
        </p:txBody>
      </p:sp>
      <p:pic>
        <p:nvPicPr>
          <p:cNvPr id="7" name="Content Placeholder 6">
            <a:extLst>
              <a:ext uri="{FF2B5EF4-FFF2-40B4-BE49-F238E27FC236}">
                <a16:creationId xmlns:a16="http://schemas.microsoft.com/office/drawing/2014/main" id="{BF2D3ECF-03C1-561D-8DB8-40BBC3FDDA46}"/>
              </a:ext>
            </a:extLst>
          </p:cNvPr>
          <p:cNvPicPr>
            <a:picLocks noGrp="1" noChangeAspect="1"/>
          </p:cNvPicPr>
          <p:nvPr>
            <p:ph sz="quarter" idx="1"/>
          </p:nvPr>
        </p:nvPicPr>
        <p:blipFill rotWithShape="1">
          <a:blip r:embed="rId2">
            <a:extLst>
              <a:ext uri="{28A0092B-C50C-407E-A947-70E740481C1C}">
                <a14:useLocalDpi xmlns:a14="http://schemas.microsoft.com/office/drawing/2010/main" val="0"/>
              </a:ext>
            </a:extLst>
          </a:blip>
          <a:srcRect l="4027" t="10590" r="2083" b="5598"/>
          <a:stretch/>
        </p:blipFill>
        <p:spPr bwMode="auto">
          <a:xfrm>
            <a:off x="753329" y="1864314"/>
            <a:ext cx="7637341" cy="312937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62744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B0FC3-1803-4B29-9BD6-1E8E2158E5D9}"/>
              </a:ext>
            </a:extLst>
          </p:cNvPr>
          <p:cNvSpPr>
            <a:spLocks noGrp="1"/>
          </p:cNvSpPr>
          <p:nvPr>
            <p:ph type="title"/>
          </p:nvPr>
        </p:nvSpPr>
        <p:spPr>
          <a:xfrm>
            <a:off x="914400" y="274638"/>
            <a:ext cx="7772400" cy="639762"/>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Flowchart/ Algorithm</a:t>
            </a:r>
          </a:p>
        </p:txBody>
      </p:sp>
      <p:sp>
        <p:nvSpPr>
          <p:cNvPr id="4" name="Slide Number Placeholder 3">
            <a:extLst>
              <a:ext uri="{FF2B5EF4-FFF2-40B4-BE49-F238E27FC236}">
                <a16:creationId xmlns:a16="http://schemas.microsoft.com/office/drawing/2014/main" id="{9127E8C8-3DED-4CAF-A2FF-EEB5908C4DAD}"/>
              </a:ext>
            </a:extLst>
          </p:cNvPr>
          <p:cNvSpPr>
            <a:spLocks noGrp="1"/>
          </p:cNvSpPr>
          <p:nvPr>
            <p:ph type="sldNum" sz="quarter" idx="12"/>
          </p:nvPr>
        </p:nvSpPr>
        <p:spPr/>
        <p:txBody>
          <a:bodyPr/>
          <a:lstStyle/>
          <a:p>
            <a:fld id="{B6F15528-21DE-4FAA-801E-634DDDAF4B2B}" type="slidenum">
              <a:rPr lang="en-US" smtClean="0"/>
              <a:pPr/>
              <a:t>7</a:t>
            </a:fld>
            <a:endParaRPr lang="en-US"/>
          </a:p>
        </p:txBody>
      </p:sp>
      <p:pic>
        <p:nvPicPr>
          <p:cNvPr id="6" name="Content Placeholder 5">
            <a:extLst>
              <a:ext uri="{FF2B5EF4-FFF2-40B4-BE49-F238E27FC236}">
                <a16:creationId xmlns:a16="http://schemas.microsoft.com/office/drawing/2014/main" id="{A2D381AB-354D-4E28-3EC2-E51E9D80365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76600" y="1257300"/>
            <a:ext cx="3048000" cy="4953000"/>
          </a:xfrm>
          <a:prstGeom prst="rect">
            <a:avLst/>
          </a:prstGeom>
          <a:noFill/>
          <a:ln>
            <a:noFill/>
          </a:ln>
        </p:spPr>
      </p:pic>
    </p:spTree>
    <p:extLst>
      <p:ext uri="{BB962C8B-B14F-4D97-AF65-F5344CB8AC3E}">
        <p14:creationId xmlns:p14="http://schemas.microsoft.com/office/powerpoint/2010/main" val="4250808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266C0-BB64-4FFE-8769-8CCB7604E9FA}"/>
              </a:ext>
            </a:extLst>
          </p:cNvPr>
          <p:cNvSpPr>
            <a:spLocks noGrp="1"/>
          </p:cNvSpPr>
          <p:nvPr>
            <p:ph type="title"/>
          </p:nvPr>
        </p:nvSpPr>
        <p:spPr>
          <a:xfrm>
            <a:off x="914400" y="274638"/>
            <a:ext cx="7772400" cy="868362"/>
          </a:xfrm>
        </p:spPr>
        <p:txBody>
          <a:bodyPr/>
          <a:lstStyle/>
          <a:p>
            <a:pPr algn="ctr"/>
            <a:r>
              <a:rPr lang="en-US" dirty="0">
                <a:latin typeface="Times New Roman" panose="02020603050405020304" pitchFamily="18" charset="0"/>
                <a:cs typeface="Times New Roman" panose="02020603050405020304" pitchFamily="18" charset="0"/>
              </a:rPr>
              <a:t>System Design</a:t>
            </a:r>
          </a:p>
        </p:txBody>
      </p:sp>
      <p:sp>
        <p:nvSpPr>
          <p:cNvPr id="3" name="Content Placeholder 2">
            <a:extLst>
              <a:ext uri="{FF2B5EF4-FFF2-40B4-BE49-F238E27FC236}">
                <a16:creationId xmlns:a16="http://schemas.microsoft.com/office/drawing/2014/main" id="{934BE077-868D-43F4-95AD-6AE57F557FC5}"/>
              </a:ext>
            </a:extLst>
          </p:cNvPr>
          <p:cNvSpPr>
            <a:spLocks noGrp="1"/>
          </p:cNvSpPr>
          <p:nvPr>
            <p:ph idx="1"/>
          </p:nvPr>
        </p:nvSpPr>
        <p:spPr>
          <a:xfrm>
            <a:off x="3576637" y="2932857"/>
            <a:ext cx="6173106" cy="3412915"/>
          </a:xfrm>
        </p:spPr>
        <p:txBody>
          <a:bodyPr/>
          <a:lstStyle/>
          <a:p>
            <a:endParaRPr lang="en-US" dirty="0"/>
          </a:p>
        </p:txBody>
      </p:sp>
      <p:sp>
        <p:nvSpPr>
          <p:cNvPr id="4" name="Slide Number Placeholder 3">
            <a:extLst>
              <a:ext uri="{FF2B5EF4-FFF2-40B4-BE49-F238E27FC236}">
                <a16:creationId xmlns:a16="http://schemas.microsoft.com/office/drawing/2014/main" id="{303965DB-2BEE-4079-8F75-7A1B4DC9F85D}"/>
              </a:ext>
            </a:extLst>
          </p:cNvPr>
          <p:cNvSpPr>
            <a:spLocks noGrp="1"/>
          </p:cNvSpPr>
          <p:nvPr>
            <p:ph type="sldNum" sz="quarter" idx="12"/>
          </p:nvPr>
        </p:nvSpPr>
        <p:spPr/>
        <p:txBody>
          <a:bodyPr/>
          <a:lstStyle/>
          <a:p>
            <a:fld id="{B6F15528-21DE-4FAA-801E-634DDDAF4B2B}" type="slidenum">
              <a:rPr lang="en-US" smtClean="0"/>
              <a:pPr/>
              <a:t>8</a:t>
            </a:fld>
            <a:endParaRPr lang="en-US"/>
          </a:p>
        </p:txBody>
      </p:sp>
      <p:pic>
        <p:nvPicPr>
          <p:cNvPr id="2050" name="Picture 8" descr="A picture containing diagram&#10;&#10;Description automatically generated">
            <a:extLst>
              <a:ext uri="{FF2B5EF4-FFF2-40B4-BE49-F238E27FC236}">
                <a16:creationId xmlns:a16="http://schemas.microsoft.com/office/drawing/2014/main" id="{81EF4692-36B2-432F-9EDF-C0885F907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86000" y="1295400"/>
            <a:ext cx="4953000" cy="5146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7607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B33778-9A03-EAF4-BBC8-348FD1EBF457}"/>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4" name="Content Placeholder 3">
            <a:extLst>
              <a:ext uri="{FF2B5EF4-FFF2-40B4-BE49-F238E27FC236}">
                <a16:creationId xmlns:a16="http://schemas.microsoft.com/office/drawing/2014/main" id="{401EBE4F-9BC2-9610-5FCB-8C5FA3DA3F56}"/>
              </a:ext>
            </a:extLst>
          </p:cNvPr>
          <p:cNvSpPr>
            <a:spLocks noGrp="1"/>
          </p:cNvSpPr>
          <p:nvPr>
            <p:ph sz="quarter" idx="1"/>
          </p:nvPr>
        </p:nvSpPr>
        <p:spPr>
          <a:xfrm>
            <a:off x="914400" y="381000"/>
            <a:ext cx="7772400" cy="5638800"/>
          </a:xfrm>
        </p:spPr>
        <p:txBody>
          <a:bodyPr>
            <a:normAutofit fontScale="85000" lnSpcReduction="10000"/>
          </a:bodyPr>
          <a:lstStyle/>
          <a:p>
            <a:pPr marL="342900" marR="0" lvl="0" indent="-342900" algn="l">
              <a:lnSpc>
                <a:spcPct val="160000"/>
              </a:lnSpc>
              <a:spcBef>
                <a:spcPts val="0"/>
              </a:spcBef>
              <a:spcAft>
                <a:spcPts val="0"/>
              </a:spcAft>
              <a:buSzPts val="1200"/>
              <a:buFont typeface="+mj-lt"/>
              <a:buAutoNum type="arabicParenR"/>
              <a:tabLst>
                <a:tab pos="2743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Virtual valet will help its user to get the information of the car’s owner with the help number plate. The first step for our user is to create an account in our application. After that he will be provided with two options like upload the image and click the image. Clicking an image is a real time function.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l">
              <a:lnSpc>
                <a:spcPct val="160000"/>
              </a:lnSpc>
              <a:spcBef>
                <a:spcPts val="0"/>
              </a:spcBef>
              <a:spcAft>
                <a:spcPts val="0"/>
              </a:spcAft>
              <a:buSzPts val="1200"/>
              <a:buFont typeface="+mj-lt"/>
              <a:buAutoNum type="arabicParenR"/>
              <a:tabLst>
                <a:tab pos="2743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photograph will be saved in our system for further processing once he submits it.</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l">
              <a:lnSpc>
                <a:spcPct val="160000"/>
              </a:lnSpc>
              <a:spcBef>
                <a:spcPts val="0"/>
              </a:spcBef>
              <a:spcAft>
                <a:spcPts val="0"/>
              </a:spcAft>
              <a:buSzPts val="1200"/>
              <a:buFont typeface="+mj-lt"/>
              <a:buAutoNum type="arabicParenR"/>
              <a:tabLst>
                <a:tab pos="2743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After that image preprocessing will takes place. Image preprocessing are the steps required to format images before sending it to our training model. This includes image resizing, color corrections, etc.</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l">
              <a:lnSpc>
                <a:spcPct val="160000"/>
              </a:lnSpc>
              <a:spcBef>
                <a:spcPts val="0"/>
              </a:spcBef>
              <a:spcAft>
                <a:spcPts val="0"/>
              </a:spcAft>
              <a:buSzPts val="1200"/>
              <a:buFont typeface="+mj-lt"/>
              <a:buAutoNum type="arabicParenR"/>
              <a:tabLst>
                <a:tab pos="2743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user is going to enter the entire car image and not only the number plate. So, we need to crop it. For that purpose, we are using edge detection. Identifying object’s edges in an image with the help of image processing is known as edge detection.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l">
              <a:lnSpc>
                <a:spcPct val="160000"/>
              </a:lnSpc>
              <a:spcBef>
                <a:spcPts val="0"/>
              </a:spcBef>
              <a:spcAft>
                <a:spcPts val="0"/>
              </a:spcAft>
              <a:buSzPts val="1200"/>
              <a:buFont typeface="+mj-lt"/>
              <a:buAutoNum type="arabicParenR"/>
              <a:tabLst>
                <a:tab pos="2743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area of interest in an image is the portion of the image on which we want to execute additional operations. To get the required region of interest we first need to convert the RGB image to greyscale image.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l">
              <a:lnSpc>
                <a:spcPct val="160000"/>
              </a:lnSpc>
              <a:spcBef>
                <a:spcPts val="0"/>
              </a:spcBef>
              <a:spcAft>
                <a:spcPts val="0"/>
              </a:spcAft>
              <a:buSzPts val="1200"/>
              <a:buFont typeface="+mj-lt"/>
              <a:buAutoNum type="arabicParenR"/>
              <a:tabLst>
                <a:tab pos="2743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Segmentation is the crucial stage in any image processing or recognition system. For subsequent processing, character segmentation extracts the objects of our interest.</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852796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A87E1-0590-48B5-A88D-EB37F773A041}"/>
              </a:ext>
            </a:extLst>
          </p:cNvPr>
          <p:cNvSpPr>
            <a:spLocks noGrp="1"/>
          </p:cNvSpPr>
          <p:nvPr>
            <p:ph type="title"/>
          </p:nvPr>
        </p:nvSpPr>
        <p:spPr>
          <a:xfrm>
            <a:off x="914400" y="274638"/>
            <a:ext cx="7772400" cy="944562"/>
          </a:xfrm>
        </p:spPr>
        <p:txBody>
          <a:bodyPr>
            <a:normAutofit/>
          </a:bodyPr>
          <a:lstStyle/>
          <a:p>
            <a:pPr algn="ctr"/>
            <a:r>
              <a:rPr lang="en-US" sz="3200" dirty="0">
                <a:latin typeface="Times New Roman" panose="02020603050405020304" pitchFamily="18" charset="0"/>
                <a:cs typeface="Times New Roman" panose="02020603050405020304" pitchFamily="18" charset="0"/>
              </a:rPr>
              <a:t>System implementation and Testing Result</a:t>
            </a:r>
          </a:p>
        </p:txBody>
      </p:sp>
      <p:sp>
        <p:nvSpPr>
          <p:cNvPr id="3" name="Content Placeholder 2">
            <a:extLst>
              <a:ext uri="{FF2B5EF4-FFF2-40B4-BE49-F238E27FC236}">
                <a16:creationId xmlns:a16="http://schemas.microsoft.com/office/drawing/2014/main" id="{13233629-F90E-475F-B544-0B79884F2198}"/>
              </a:ext>
            </a:extLst>
          </p:cNvPr>
          <p:cNvSpPr>
            <a:spLocks noGrp="1"/>
          </p:cNvSpPr>
          <p:nvPr>
            <p:ph idx="1"/>
          </p:nvPr>
        </p:nvSpPr>
        <p:spPr>
          <a:xfrm>
            <a:off x="914400" y="1447800"/>
            <a:ext cx="7772400" cy="4762500"/>
          </a:xfrm>
        </p:spPr>
        <p:txBody>
          <a:bodyPr>
            <a:normAutofit fontScale="62500" lnSpcReduction="20000"/>
          </a:bodyPr>
          <a:lstStyle/>
          <a:p>
            <a:pPr marL="0" indent="0">
              <a:lnSpc>
                <a:spcPct val="170000"/>
              </a:lnSpc>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We began by conducting a thorough analysis of existing ANPR approaches and identifying the major components of ANPR systems by examining their performance summary, benefits, and drawbacks. We then investigated and sketched out a basic idea of how our app would look and function, as well as the specific type of app we were expected to create. We decided to construct a graphic prototype for the web app using Figma. </a:t>
            </a:r>
          </a:p>
          <a:p>
            <a:pPr marL="0" indent="0">
              <a:lnSpc>
                <a:spcPct val="170000"/>
              </a:lnSpc>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project is carried out in Django. It's a Python framework that makes building web sites with Python a lot easier. The MVT design pattern is used by Django (Model View Template).</a:t>
            </a:r>
          </a:p>
          <a:p>
            <a:pPr marL="0" indent="0">
              <a:lnSpc>
                <a:spcPct val="170000"/>
              </a:lnSpc>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Model - The information you want to show, which is commonly data from a database.</a:t>
            </a:r>
          </a:p>
          <a:p>
            <a:pPr marL="0" marR="0" indent="0" algn="just">
              <a:lnSpc>
                <a:spcPct val="170000"/>
              </a:lnSpc>
              <a:spcBef>
                <a:spcPts val="0"/>
              </a:spcBef>
              <a:spcAft>
                <a:spcPts val="0"/>
              </a:spcAft>
              <a:buNone/>
              <a:tabLst>
                <a:tab pos="2743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View - A request handler that, based on the user's request, returns the appropriate template and content.</a:t>
            </a:r>
          </a:p>
          <a:p>
            <a:pPr marL="0" marR="0" indent="0" algn="just">
              <a:lnSpc>
                <a:spcPct val="170000"/>
              </a:lnSpc>
              <a:spcBef>
                <a:spcPts val="0"/>
              </a:spcBef>
              <a:spcAft>
                <a:spcPts val="0"/>
              </a:spcAft>
              <a:buNone/>
              <a:tabLst>
                <a:tab pos="2743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Template - A template is a text file (similar to an HTML file) that specifies the layout and logic for displaying data on a web page.</a:t>
            </a:r>
          </a:p>
          <a:p>
            <a:pPr marL="0" indent="0">
              <a:buNone/>
            </a:pPr>
            <a:endParaRPr lang="en-US" dirty="0"/>
          </a:p>
        </p:txBody>
      </p:sp>
      <p:sp>
        <p:nvSpPr>
          <p:cNvPr id="4" name="Slide Number Placeholder 3">
            <a:extLst>
              <a:ext uri="{FF2B5EF4-FFF2-40B4-BE49-F238E27FC236}">
                <a16:creationId xmlns:a16="http://schemas.microsoft.com/office/drawing/2014/main" id="{3B600120-F98F-4899-92B7-22C4DAAAA584}"/>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1371064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BFBDC8-83F4-9A15-2658-2D92F605B7E3}"/>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4" name="Content Placeholder 3">
            <a:extLst>
              <a:ext uri="{FF2B5EF4-FFF2-40B4-BE49-F238E27FC236}">
                <a16:creationId xmlns:a16="http://schemas.microsoft.com/office/drawing/2014/main" id="{6C462E69-CB04-4333-CCC0-53689B1C7211}"/>
              </a:ext>
            </a:extLst>
          </p:cNvPr>
          <p:cNvSpPr>
            <a:spLocks noGrp="1"/>
          </p:cNvSpPr>
          <p:nvPr>
            <p:ph sz="quarter" idx="1"/>
          </p:nvPr>
        </p:nvSpPr>
        <p:spPr>
          <a:xfrm>
            <a:off x="914400" y="274638"/>
            <a:ext cx="7772400" cy="5745162"/>
          </a:xfrm>
        </p:spPr>
        <p:txBody>
          <a:bodyPr/>
          <a:lstStyle/>
          <a:p>
            <a:pPr marL="0" indent="0">
              <a:lnSpc>
                <a:spcPct val="150000"/>
              </a:lnSpc>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project module was tested on a variety of images with varying backgrounds, lighting, and video quality and found to be successful with images that fit inside specific dimension frames. The image was effectively increasing image quality and transforming the image to binary and morphing image. The vehicle's license plate is removed and presented individually in the project. After using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Pytesseract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to conduct Optical Character Recognition, the project successfully prints the license number. The Tesseract engine has precision challenges which can be improved by fine-tuning the engine's design. All activities, including picture acquisition, number plate extraction, pre-processing, character segmentation, and character identification, as well as printing on the terminal, are completed in the final prototype. The project can be modified such that the number is collected and stored.</a:t>
            </a:r>
          </a:p>
          <a:p>
            <a:endParaRPr lang="en-US" dirty="0"/>
          </a:p>
        </p:txBody>
      </p:sp>
    </p:spTree>
    <p:extLst>
      <p:ext uri="{BB962C8B-B14F-4D97-AF65-F5344CB8AC3E}">
        <p14:creationId xmlns:p14="http://schemas.microsoft.com/office/powerpoint/2010/main" val="528674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8BA59B-B576-C0AD-9344-9D0662BF1D79}"/>
              </a:ext>
            </a:extLst>
          </p:cNvPr>
          <p:cNvSpPr>
            <a:spLocks noGrp="1"/>
          </p:cNvSpPr>
          <p:nvPr>
            <p:ph type="sldNum" sz="quarter" idx="12"/>
          </p:nvPr>
        </p:nvSpPr>
        <p:spPr/>
        <p:txBody>
          <a:bodyPr/>
          <a:lstStyle/>
          <a:p>
            <a:fld id="{B6F15528-21DE-4FAA-801E-634DDDAF4B2B}" type="slidenum">
              <a:rPr lang="en-US" smtClean="0"/>
              <a:pPr/>
              <a:t>12</a:t>
            </a:fld>
            <a:endParaRPr lang="en-US"/>
          </a:p>
        </p:txBody>
      </p:sp>
      <p:pic>
        <p:nvPicPr>
          <p:cNvPr id="3" name="Picture 2">
            <a:extLst>
              <a:ext uri="{FF2B5EF4-FFF2-40B4-BE49-F238E27FC236}">
                <a16:creationId xmlns:a16="http://schemas.microsoft.com/office/drawing/2014/main" id="{6968210D-715E-479A-1DA3-C79913C35D0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auto">
          <a:xfrm>
            <a:off x="1211000" y="222380"/>
            <a:ext cx="6790000" cy="3200400"/>
          </a:xfrm>
          <a:prstGeom prst="rect">
            <a:avLst/>
          </a:prstGeom>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E8152477-A576-881C-EE47-EA0EE2A658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7693" y="3515767"/>
            <a:ext cx="6813307" cy="3200400"/>
          </a:xfrm>
          <a:prstGeom prst="rect">
            <a:avLst/>
          </a:prstGeom>
        </p:spPr>
      </p:pic>
    </p:spTree>
    <p:extLst>
      <p:ext uri="{BB962C8B-B14F-4D97-AF65-F5344CB8AC3E}">
        <p14:creationId xmlns:p14="http://schemas.microsoft.com/office/powerpoint/2010/main" val="2375648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AF6A105-87F2-29DC-06CE-BA50D5E04B8D}"/>
              </a:ext>
            </a:extLst>
          </p:cNvPr>
          <p:cNvSpPr>
            <a:spLocks noGrp="1"/>
          </p:cNvSpPr>
          <p:nvPr>
            <p:ph type="sldNum" sz="quarter" idx="12"/>
          </p:nvPr>
        </p:nvSpPr>
        <p:spPr/>
        <p:txBody>
          <a:bodyPr/>
          <a:lstStyle/>
          <a:p>
            <a:fld id="{B6F15528-21DE-4FAA-801E-634DDDAF4B2B}" type="slidenum">
              <a:rPr lang="en-US" smtClean="0"/>
              <a:pPr/>
              <a:t>13</a:t>
            </a:fld>
            <a:endParaRPr lang="en-US"/>
          </a:p>
        </p:txBody>
      </p:sp>
      <p:pic>
        <p:nvPicPr>
          <p:cNvPr id="5" name="Content Placeholder 4">
            <a:extLst>
              <a:ext uri="{FF2B5EF4-FFF2-40B4-BE49-F238E27FC236}">
                <a16:creationId xmlns:a16="http://schemas.microsoft.com/office/drawing/2014/main" id="{626A7B7B-DFEC-D76D-E5A8-719F043B02AA}"/>
              </a:ext>
            </a:extLst>
          </p:cNvPr>
          <p:cNvPicPr>
            <a:picLocks noGrp="1" noChangeAspect="1"/>
          </p:cNvPicPr>
          <p:nvPr>
            <p:ph sz="quarter" idx="1"/>
          </p:nvPr>
        </p:nvPicPr>
        <p:blipFill>
          <a:blip r:embed="rId2"/>
          <a:stretch>
            <a:fillRect/>
          </a:stretch>
        </p:blipFill>
        <p:spPr>
          <a:xfrm>
            <a:off x="762000" y="3767992"/>
            <a:ext cx="2652713" cy="2402314"/>
          </a:xfrm>
          <a:prstGeom prst="rect">
            <a:avLst/>
          </a:prstGeom>
        </p:spPr>
      </p:pic>
      <p:pic>
        <p:nvPicPr>
          <p:cNvPr id="6" name="Picture 5">
            <a:extLst>
              <a:ext uri="{FF2B5EF4-FFF2-40B4-BE49-F238E27FC236}">
                <a16:creationId xmlns:a16="http://schemas.microsoft.com/office/drawing/2014/main" id="{BD87A4E1-13D2-4673-20A2-CE08AD1718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36720" y="3767992"/>
            <a:ext cx="4450080" cy="2451735"/>
          </a:xfrm>
          <a:prstGeom prst="rect">
            <a:avLst/>
          </a:prstGeom>
        </p:spPr>
      </p:pic>
      <p:pic>
        <p:nvPicPr>
          <p:cNvPr id="7" name="Picture 6">
            <a:extLst>
              <a:ext uri="{FF2B5EF4-FFF2-40B4-BE49-F238E27FC236}">
                <a16:creationId xmlns:a16="http://schemas.microsoft.com/office/drawing/2014/main" id="{C8B9A292-E478-93E8-030B-56AE1C741F96}"/>
              </a:ext>
            </a:extLst>
          </p:cNvPr>
          <p:cNvPicPr>
            <a:picLocks noChangeAspect="1"/>
          </p:cNvPicPr>
          <p:nvPr/>
        </p:nvPicPr>
        <p:blipFill>
          <a:blip r:embed="rId4"/>
          <a:stretch>
            <a:fillRect/>
          </a:stretch>
        </p:blipFill>
        <p:spPr>
          <a:xfrm>
            <a:off x="465861" y="821149"/>
            <a:ext cx="3244989" cy="2232025"/>
          </a:xfrm>
          <a:prstGeom prst="rect">
            <a:avLst/>
          </a:prstGeom>
        </p:spPr>
      </p:pic>
      <p:pic>
        <p:nvPicPr>
          <p:cNvPr id="8" name="Picture 7">
            <a:extLst>
              <a:ext uri="{FF2B5EF4-FFF2-40B4-BE49-F238E27FC236}">
                <a16:creationId xmlns:a16="http://schemas.microsoft.com/office/drawing/2014/main" id="{B03CA7EB-31A9-B816-348B-CB6D2328C23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36720" y="821149"/>
            <a:ext cx="4503420" cy="2268859"/>
          </a:xfrm>
          <a:prstGeom prst="rect">
            <a:avLst/>
          </a:prstGeom>
        </p:spPr>
      </p:pic>
    </p:spTree>
    <p:extLst>
      <p:ext uri="{BB962C8B-B14F-4D97-AF65-F5344CB8AC3E}">
        <p14:creationId xmlns:p14="http://schemas.microsoft.com/office/powerpoint/2010/main" val="941140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95A767-2A10-750D-90D2-E59B46125596}"/>
              </a:ext>
            </a:extLst>
          </p:cNvPr>
          <p:cNvSpPr>
            <a:spLocks noGrp="1"/>
          </p:cNvSpPr>
          <p:nvPr>
            <p:ph type="sldNum" sz="quarter" idx="12"/>
          </p:nvPr>
        </p:nvSpPr>
        <p:spPr/>
        <p:txBody>
          <a:bodyPr/>
          <a:lstStyle/>
          <a:p>
            <a:fld id="{B6F15528-21DE-4FAA-801E-634DDDAF4B2B}" type="slidenum">
              <a:rPr lang="en-US" smtClean="0"/>
              <a:pPr/>
              <a:t>14</a:t>
            </a:fld>
            <a:endParaRPr lang="en-US"/>
          </a:p>
        </p:txBody>
      </p:sp>
      <p:pic>
        <p:nvPicPr>
          <p:cNvPr id="5" name="Content Placeholder 4">
            <a:extLst>
              <a:ext uri="{FF2B5EF4-FFF2-40B4-BE49-F238E27FC236}">
                <a16:creationId xmlns:a16="http://schemas.microsoft.com/office/drawing/2014/main" id="{E4B82782-FA91-68CC-FE1E-09B05B277E74}"/>
              </a:ext>
            </a:extLst>
          </p:cNvPr>
          <p:cNvPicPr>
            <a:picLocks noGrp="1" noChangeAspect="1"/>
          </p:cNvPicPr>
          <p:nvPr>
            <p:ph sz="quarter" idx="1"/>
          </p:nvPr>
        </p:nvPicPr>
        <p:blipFill rotWithShape="1">
          <a:blip r:embed="rId2" cstate="print">
            <a:extLst>
              <a:ext uri="{28A0092B-C50C-407E-A947-70E740481C1C}">
                <a14:useLocalDpi xmlns:a14="http://schemas.microsoft.com/office/drawing/2010/main" val="0"/>
              </a:ext>
            </a:extLst>
          </a:blip>
          <a:srcRect r="30181" b="33991"/>
          <a:stretch/>
        </p:blipFill>
        <p:spPr bwMode="auto">
          <a:xfrm>
            <a:off x="1649299" y="259086"/>
            <a:ext cx="5970701" cy="3176310"/>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D3A48B07-4E0D-9D6B-E753-8F22E46945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67960" y="3581400"/>
            <a:ext cx="5952040" cy="2743200"/>
          </a:xfrm>
          <a:prstGeom prst="rect">
            <a:avLst/>
          </a:prstGeom>
        </p:spPr>
      </p:pic>
    </p:spTree>
    <p:extLst>
      <p:ext uri="{BB962C8B-B14F-4D97-AF65-F5344CB8AC3E}">
        <p14:creationId xmlns:p14="http://schemas.microsoft.com/office/powerpoint/2010/main" val="4029333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84F86A9-01F5-9FF2-04F3-37F32E6F711A}"/>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4" name="Content Placeholder 3">
            <a:extLst>
              <a:ext uri="{FF2B5EF4-FFF2-40B4-BE49-F238E27FC236}">
                <a16:creationId xmlns:a16="http://schemas.microsoft.com/office/drawing/2014/main" id="{3993A1E3-7998-F27F-C556-611F62B670AC}"/>
              </a:ext>
            </a:extLst>
          </p:cNvPr>
          <p:cNvSpPr>
            <a:spLocks noGrp="1"/>
          </p:cNvSpPr>
          <p:nvPr>
            <p:ph sz="quarter" idx="1"/>
          </p:nvPr>
        </p:nvSpPr>
        <p:spPr>
          <a:xfrm>
            <a:off x="914400" y="381000"/>
            <a:ext cx="7772400" cy="5638800"/>
          </a:xfrm>
        </p:spPr>
        <p:txBody>
          <a:bodyPr/>
          <a:lstStyle/>
          <a:p>
            <a:pPr marL="0" marR="0" indent="0" algn="ctr">
              <a:lnSpc>
                <a:spcPct val="150000"/>
              </a:lnSpc>
              <a:spcBef>
                <a:spcPts val="0"/>
              </a:spcBef>
              <a:spcAft>
                <a:spcPts val="0"/>
              </a:spcAft>
              <a:buNone/>
              <a:tabLst>
                <a:tab pos="2743200" algn="l"/>
              </a:tabLs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Limitations of the project:</a:t>
            </a:r>
          </a:p>
          <a:p>
            <a:pPr marR="0" lvl="0" algn="just">
              <a:lnSpc>
                <a:spcPct val="150000"/>
              </a:lnSpc>
              <a:spcBef>
                <a:spcPts val="0"/>
              </a:spcBef>
              <a:spcAft>
                <a:spcPts val="0"/>
              </a:spcAft>
              <a:buFont typeface="Wingdings" panose="05000000000000000000" pitchFamily="2" charset="2"/>
              <a:buChar char="§"/>
              <a:tabLst>
                <a:tab pos="27432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Camera should be of good quality. Otherwise, correct text from image would not</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be extracted properly.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
              <a:tabLst>
                <a:tab pos="27432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There should be proper lighting.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
              <a:tabLst>
                <a:tab pos="27432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Under different lighting situations, this system does not respond well.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
              <a:tabLst>
                <a:tab pos="27432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Although accuracy is high, mean squared error leads to low computational results.</a:t>
            </a:r>
            <a:endParaRPr lang="en-US" dirty="0"/>
          </a:p>
        </p:txBody>
      </p:sp>
    </p:spTree>
    <p:extLst>
      <p:ext uri="{BB962C8B-B14F-4D97-AF65-F5344CB8AC3E}">
        <p14:creationId xmlns:p14="http://schemas.microsoft.com/office/powerpoint/2010/main" val="4215883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1DC03-1299-4AA6-8AE3-11A9C27C2FF3}"/>
              </a:ext>
            </a:extLst>
          </p:cNvPr>
          <p:cNvSpPr>
            <a:spLocks noGrp="1"/>
          </p:cNvSpPr>
          <p:nvPr>
            <p:ph type="title"/>
          </p:nvPr>
        </p:nvSpPr>
        <p:spPr>
          <a:xfrm>
            <a:off x="914400" y="274638"/>
            <a:ext cx="7772400" cy="868362"/>
          </a:xfrm>
        </p:spPr>
        <p:txBody>
          <a:bodyPr/>
          <a:lstStyle/>
          <a:p>
            <a:pPr algn="ctr"/>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9667D00-55FB-4843-80CF-473AF3ACDE63}"/>
              </a:ext>
            </a:extLst>
          </p:cNvPr>
          <p:cNvSpPr>
            <a:spLocks noGrp="1"/>
          </p:cNvSpPr>
          <p:nvPr>
            <p:ph idx="1"/>
          </p:nvPr>
        </p:nvSpPr>
        <p:spPr/>
        <p:txBody>
          <a:bodyPr>
            <a:normAutofit fontScale="85000" lnSpcReduction="10000"/>
          </a:bodyPr>
          <a:lstStyle/>
          <a:p>
            <a:pPr marL="0" marR="0" algn="just">
              <a:lnSpc>
                <a:spcPct val="150000"/>
              </a:lnSpc>
              <a:spcBef>
                <a:spcPts val="0"/>
              </a:spcBef>
              <a:spcAft>
                <a:spcPts val="0"/>
              </a:spcAft>
              <a:tabLst>
                <a:tab pos="27432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project shows an app that uses cameras to capture a vehicle plate image and then processes it to extract number plate information. A vehicle's back picture is taken and analyzed using a variety of algorithms. Number plate extraction, character segmentation, optical character recognition, and other techniques will be applied to the image. We also intend to research the characteristics of the automatic number plate system to improve its performance.</a:t>
            </a:r>
          </a:p>
          <a:p>
            <a:pPr marL="0" marR="0" algn="just">
              <a:lnSpc>
                <a:spcPct val="150000"/>
              </a:lnSpc>
              <a:spcBef>
                <a:spcPts val="0"/>
              </a:spcBef>
              <a:spcAft>
                <a:spcPts val="0"/>
              </a:spcAft>
              <a:tabLst>
                <a:tab pos="27432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ANPR systems rely on complex optical, computational, and digitization capabilities, which might cause plate recognition to be delayed. The available ANPR solutions do not provide a consistent set of features for all nations; instead, each company must be provided with a well-optimized system for various parts/regions of the world, as the same system developed is insufficient and must be designed according to the region where it will be deployed, considering all influencing factors. OCR engines are frequently tailored to certain countries. It must be confirmed that the required countries are supported by the camera's installed library or engine. Each vendor's ANPR solution has its own set of strengths and disadvantages. The best of these is the one that addresses the region's demands in terms of identified system-effecting conditions.</a:t>
            </a:r>
          </a:p>
          <a:p>
            <a:pPr marL="0" indent="0">
              <a:buNone/>
            </a:pPr>
            <a:endParaRPr lang="en-US" dirty="0"/>
          </a:p>
        </p:txBody>
      </p:sp>
      <p:sp>
        <p:nvSpPr>
          <p:cNvPr id="4" name="Slide Number Placeholder 3">
            <a:extLst>
              <a:ext uri="{FF2B5EF4-FFF2-40B4-BE49-F238E27FC236}">
                <a16:creationId xmlns:a16="http://schemas.microsoft.com/office/drawing/2014/main" id="{EC48AD94-B043-46ED-9E29-97FBF552227D}"/>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564075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E401-BCB4-43B2-AA43-4BF2C2E523C0}"/>
              </a:ext>
            </a:extLst>
          </p:cNvPr>
          <p:cNvSpPr>
            <a:spLocks noGrp="1"/>
          </p:cNvSpPr>
          <p:nvPr>
            <p:ph type="title"/>
          </p:nvPr>
        </p:nvSpPr>
        <p:spPr>
          <a:xfrm>
            <a:off x="914400" y="274638"/>
            <a:ext cx="7772400" cy="792162"/>
          </a:xfrm>
        </p:spPr>
        <p:txBody>
          <a:bodyPr/>
          <a:lstStyle/>
          <a:p>
            <a:pPr algn="ctr"/>
            <a:r>
              <a:rPr lang="en-US"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C20373A4-2AB9-4041-8349-B0B623502361}"/>
              </a:ext>
            </a:extLst>
          </p:cNvPr>
          <p:cNvSpPr>
            <a:spLocks noGrp="1"/>
          </p:cNvSpPr>
          <p:nvPr>
            <p:ph idx="1"/>
          </p:nvPr>
        </p:nvSpPr>
        <p:spPr>
          <a:xfrm>
            <a:off x="914400" y="1295400"/>
            <a:ext cx="7772400" cy="4724400"/>
          </a:xfrm>
        </p:spPr>
        <p:txBody>
          <a:bodyPr>
            <a:normAutofit fontScale="85000" lnSpcReduction="20000"/>
          </a:bodyPr>
          <a:lstStyle/>
          <a:p>
            <a:pPr marL="457200" marR="0" algn="just">
              <a:lnSpc>
                <a:spcPct val="170000"/>
              </a:lnSpc>
              <a:spcBef>
                <a:spcPts val="0"/>
              </a:spcBef>
              <a:spcAft>
                <a:spcPts val="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The created system's future work will be focused on improving the accuracy of text localization and graphics removal in caption text images.</a:t>
            </a:r>
          </a:p>
          <a:p>
            <a:pPr marL="457200" marR="0" algn="just">
              <a:lnSpc>
                <a:spcPct val="170000"/>
              </a:lnSpc>
              <a:spcBef>
                <a:spcPts val="0"/>
              </a:spcBef>
              <a:spcAft>
                <a:spcPts val="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It can be assessed using a variety of other picture databases and classifiers.</a:t>
            </a:r>
          </a:p>
          <a:p>
            <a:pPr marL="457200" marR="0" algn="just">
              <a:lnSpc>
                <a:spcPct val="170000"/>
              </a:lnSpc>
              <a:spcBef>
                <a:spcPts val="0"/>
              </a:spcBef>
              <a:spcAft>
                <a:spcPts val="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The described approaches could be improved and used to sort mixed mail automatically.</a:t>
            </a:r>
          </a:p>
          <a:p>
            <a:pPr marL="457200" marR="0" algn="just">
              <a:lnSpc>
                <a:spcPct val="170000"/>
              </a:lnSpc>
              <a:spcBef>
                <a:spcPts val="0"/>
              </a:spcBef>
              <a:spcAft>
                <a:spcPts val="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Future ANPR research will confront several problems, including the need to focus on more robust algorithms for non-standardized formats across all regions. Furthermore, rather than pre-acquired photos, all proposed/designed algorithms must be tested for real-time scenarios. High-resolution cameras must also be used, enabling for powerful algorithms to minimize processing times and improve recognition capabilities. More research is needed to make the algorithms clever enough to work with non-standardized, heterogeneous number-plate datasets in a variety of contexts.</a:t>
            </a:r>
          </a:p>
          <a:p>
            <a:endParaRPr lang="en-US" dirty="0"/>
          </a:p>
        </p:txBody>
      </p:sp>
      <p:sp>
        <p:nvSpPr>
          <p:cNvPr id="4" name="Slide Number Placeholder 3">
            <a:extLst>
              <a:ext uri="{FF2B5EF4-FFF2-40B4-BE49-F238E27FC236}">
                <a16:creationId xmlns:a16="http://schemas.microsoft.com/office/drawing/2014/main" id="{08E99978-0857-485D-A5F5-074A2CA5879C}"/>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4122497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423DA-328C-4549-9779-40AE45246CD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DA22D58B-008E-447B-A3CE-F24A41FA0D90}"/>
              </a:ext>
            </a:extLst>
          </p:cNvPr>
          <p:cNvSpPr>
            <a:spLocks noGrp="1"/>
          </p:cNvSpPr>
          <p:nvPr>
            <p:ph idx="1"/>
          </p:nvPr>
        </p:nvSpPr>
        <p:spPr/>
        <p:txBody>
          <a:bodyPr>
            <a:normAutofit fontScale="85000" lnSpcReduction="20000"/>
          </a:bodyPr>
          <a:lstStyle/>
          <a:p>
            <a:pPr marL="342900" marR="0" lvl="0" indent="-342900" algn="l">
              <a:lnSpc>
                <a:spcPct val="150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Chirag Patel, Atul Patel and D. Shah “Automatic Number Plate Recognition System (ANPR): A Survey,” International Journal of Computer Applications, DOI:10.5120/11871-7665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50000"/>
              </a:lnSpc>
              <a:spcBef>
                <a:spcPts val="0"/>
              </a:spcBef>
              <a:spcAft>
                <a:spcPts val="0"/>
              </a:spcAft>
              <a:buFont typeface="+mj-lt"/>
              <a:buAutoNum type="arabicPeriod"/>
              <a:tabLst>
                <a:tab pos="27432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Nicole do Vale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Dalarmelina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Marcio Andrey Teixeira and Rodolfo I.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Meneguette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Real-Time Automatic Plate Recognition System Based on Optical Character Recognition and Wireless Sensor Networks for ITS” Department of Informatics, Federal Institute of São Paulo,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Catanduva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15808-305, Brazil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50000"/>
              </a:lnSpc>
              <a:spcBef>
                <a:spcPts val="0"/>
              </a:spcBef>
              <a:spcAft>
                <a:spcPts val="0"/>
              </a:spcAft>
              <a:buFont typeface="+mj-lt"/>
              <a:buAutoNum type="arabicPeriod"/>
              <a:tabLst>
                <a:tab pos="2743200" algn="l"/>
              </a:tabLs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Lubna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Naveed Mufti and Syed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Afaq</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Ali Shah ”Automatic Number Plate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Recognition:A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Detailed Survey of Relevant Algorithms” . Sensors 2021, 21, 3028. https://doi.org/ 10.3390/s21093028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50000"/>
              </a:lnSpc>
              <a:spcBef>
                <a:spcPts val="0"/>
              </a:spcBef>
              <a:spcAft>
                <a:spcPts val="0"/>
              </a:spcAft>
              <a:buFont typeface="+mj-lt"/>
              <a:buAutoNum type="arabicPeriod"/>
              <a:tabLst>
                <a:tab pos="27432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Faizal Patel,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Jaimini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Solanki, Vivek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Rajguru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Ankit Saxena “Recognition of Vehicle Number Plate Using Image Processing Technique”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Medicaps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Institute of Technology and Management Indore, MP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50000"/>
              </a:lnSpc>
              <a:spcBef>
                <a:spcPts val="0"/>
              </a:spcBef>
              <a:spcAft>
                <a:spcPts val="0"/>
              </a:spcAft>
              <a:buFont typeface="+mj-lt"/>
              <a:buAutoNum type="arabicPeriod"/>
              <a:tabLst>
                <a:tab pos="2743200" algn="l"/>
              </a:tabLs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Aniruddh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Puranic, Deepak K. 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Umadevi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V., “Vehicle Number Plate Recognition System: A Literature Review and Implementation using Template Matching”, International Journal of Computer Applications (0975 – 8887)</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EB3A01E3-F636-41C6-AA4F-A26D67FFCB6B}"/>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732048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750BE-3338-4B3F-B124-302B9034CB7E}"/>
              </a:ext>
            </a:extLst>
          </p:cNvPr>
          <p:cNvSpPr>
            <a:spLocks noGrp="1"/>
          </p:cNvSpPr>
          <p:nvPr>
            <p:ph type="title"/>
          </p:nvPr>
        </p:nvSpPr>
        <p:spPr>
          <a:xfrm>
            <a:off x="1143000" y="2667000"/>
            <a:ext cx="7772400" cy="1143000"/>
          </a:xfrm>
        </p:spPr>
        <p:txBody>
          <a:bodyPr/>
          <a:lstStyle/>
          <a:p>
            <a:pPr algn="ctr"/>
            <a:r>
              <a:rPr lang="en-US" dirty="0"/>
              <a:t>Thank You …!!!</a:t>
            </a:r>
          </a:p>
        </p:txBody>
      </p:sp>
      <p:sp>
        <p:nvSpPr>
          <p:cNvPr id="3" name="Slide Number Placeholder 2">
            <a:extLst>
              <a:ext uri="{FF2B5EF4-FFF2-40B4-BE49-F238E27FC236}">
                <a16:creationId xmlns:a16="http://schemas.microsoft.com/office/drawing/2014/main" id="{03B4F345-9B93-4517-94CF-577CF2ABBDEE}"/>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8646151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973</TotalTime>
  <Words>1581</Words>
  <Application>Microsoft Office PowerPoint</Application>
  <PresentationFormat>On-screen Show (4:3)</PresentationFormat>
  <Paragraphs>104</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Calibri</vt:lpstr>
      <vt:lpstr>Franklin Gothic Book</vt:lpstr>
      <vt:lpstr>Perpetua</vt:lpstr>
      <vt:lpstr>Times New Roman</vt:lpstr>
      <vt:lpstr>Wingdings</vt:lpstr>
      <vt:lpstr>Wingdings 2</vt:lpstr>
      <vt:lpstr>Equity</vt:lpstr>
      <vt:lpstr>PowerPoint Presentation</vt:lpstr>
      <vt:lpstr>Individual Contribution</vt:lpstr>
      <vt:lpstr>Aim of the Project</vt:lpstr>
      <vt:lpstr>Scope and Objective/s of the Project</vt:lpstr>
      <vt:lpstr>Introduction</vt:lpstr>
      <vt:lpstr>Block Diagram</vt:lpstr>
      <vt:lpstr>Flowchart/ Algorithm</vt:lpstr>
      <vt:lpstr>System Design</vt:lpstr>
      <vt:lpstr>PowerPoint Presentation</vt:lpstr>
      <vt:lpstr>System implementation and Testing Result</vt:lpstr>
      <vt:lpstr>PowerPoint Presentation</vt:lpstr>
      <vt:lpstr>PowerPoint Presentation</vt:lpstr>
      <vt:lpstr>PowerPoint Presentation</vt:lpstr>
      <vt:lpstr>PowerPoint Presentation</vt:lpstr>
      <vt:lpstr>PowerPoint Presentation</vt:lpstr>
      <vt:lpstr>Conclusion</vt:lpstr>
      <vt:lpstr>Future Scope</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Siddhi Nirmale</cp:lastModifiedBy>
  <cp:revision>115</cp:revision>
  <dcterms:created xsi:type="dcterms:W3CDTF">2006-08-16T00:00:00Z</dcterms:created>
  <dcterms:modified xsi:type="dcterms:W3CDTF">2022-05-27T21:41:30Z</dcterms:modified>
</cp:coreProperties>
</file>